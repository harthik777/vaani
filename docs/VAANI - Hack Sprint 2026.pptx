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171A1F"/>
                </a:solidFill>
                <a:latin typeface="Georgia"/>
              </a:rPr>
              <a:t>VAANI  वाणी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171A1F"/>
                </a:solidFill>
                <a:latin typeface="Georgia"/>
              </a:rPr>
              <a:t>The owner speaks. The vendor gets a BRD that cannot lie.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7A"/>
                </a:solidFill>
                <a:latin typeface="Calibri"/>
              </a:rPr>
              <a:t>Voice-first requirements agent for Indian SMBs, built on Sarvam.</a:t>
            </a:r>
          </a:p>
          <a:p>
            <a:pPr algn="l"/>
            <a:r>
              <a:rPr sz="1800" b="0" i="0">
                <a:solidFill>
                  <a:srgbClr val="6B727A"/>
                </a:solidFill>
                <a:latin typeface="Calibri"/>
              </a:rPr>
              <a:t>Every requirement quotes the speaker. Every number was said. Every disagreement is caught, with both voices, and reconciled.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6E56"/>
                </a:solidFill>
                <a:latin typeface="Calibri"/>
              </a:rPr>
              <a:t>Team AIForge · Hack Sprint 2026, MIT Bengaluru · Problem statement 41</a:t>
            </a:r>
          </a:p>
        </p:txBody>
      </p:sp>
      <p:pic>
        <p:nvPicPr>
          <p:cNvPr id="6" name="Picture 5" descr="1-landing-hi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017520"/>
            <a:ext cx="3840480" cy="2400300"/>
          </a:xfrm>
          <a:prstGeom prst="rect">
            <a:avLst/>
          </a:prstGeom>
          <a:ln w="9525">
            <a:solidFill>
              <a:srgbClr val="D9D4CB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6E56"/>
                </a:solidFill>
                <a:latin typeface="Calibri"/>
              </a:rPr>
              <a:t>THE PROBLEM, ONE OWNER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71A1F"/>
                </a:solidFill>
                <a:latin typeface="Georgia"/>
              </a:rPr>
              <a:t>Rajesh paid ₹1.8 lakh for a stock app. It was built wrong twice.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6766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71A1F"/>
                </a:solidFill>
                <a:latin typeface="Calibri"/>
              </a:rPr>
              <a:t>He runs a spice wholesale in Indore and speaks Hindi.</a:t>
            </a:r>
          </a:p>
          <a:p>
            <a:pPr algn="l"/>
            <a:r>
              <a:rPr sz="1800" b="0" i="0">
                <a:solidFill>
                  <a:srgbClr val="171A1F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71A1F"/>
                </a:solidFill>
                <a:latin typeface="Calibri"/>
              </a:rPr>
              <a:t>The freelancer wrote the requirements in English from a phone call. The reorder alert went in at 50 kg. The manager had said 100 kg, because in festival season 50 is too late.</a:t>
            </a:r>
          </a:p>
          <a:p>
            <a:pPr algn="l"/>
            <a:r>
              <a:rPr sz="1800" b="0" i="0">
                <a:solidFill>
                  <a:srgbClr val="171A1F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71A1F"/>
                </a:solidFill>
                <a:latin typeface="Calibri"/>
              </a:rPr>
              <a:t>Nobody could prove what was said. Stock ran out on Diwali week.</a:t>
            </a:r>
          </a:p>
          <a:p>
            <a:pPr algn="l"/>
            <a:r>
              <a:rPr sz="1800" b="0" i="0">
                <a:solidFill>
                  <a:srgbClr val="171A1F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71A1F"/>
                </a:solidFill>
                <a:latin typeface="Calibri"/>
              </a:rPr>
              <a:t>Between an owner who speaks Hindi and a vendor who writes English, requirements change, and every tool starts from text someone typed, not from the voice.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103120"/>
            <a:ext cx="3840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6B727A"/>
                </a:solidFill>
                <a:latin typeface="Calibri"/>
              </a:rPr>
              <a:t>63 million MSMEs.</a:t>
            </a:r>
          </a:p>
          <a:p>
            <a:pPr algn="l"/>
            <a:r>
              <a:rPr sz="1600" b="0" i="1">
                <a:solidFill>
                  <a:srgbClr val="6B727A"/>
                </a:solidFill>
                <a:latin typeface="Calibri"/>
              </a:rPr>
              <a:t>Most owners do not write specifications.</a:t>
            </a:r>
          </a:p>
          <a:p>
            <a:pPr algn="l"/>
            <a:r>
              <a:rPr sz="1600" b="0" i="1">
                <a:solidFill>
                  <a:srgbClr val="6B727A"/>
                </a:solidFill>
                <a:latin typeface="Calibri"/>
              </a:rPr>
              <a:t>Most vendors do not speak the owner's language.</a:t>
            </a:r>
          </a:p>
          <a:p>
            <a:pPr algn="l"/>
            <a:r>
              <a:rPr sz="1600" b="0" i="1">
                <a:solidFill>
                  <a:srgbClr val="6B727A"/>
                </a:solidFill>
                <a:latin typeface="Calibri"/>
              </a:rPr>
              <a:t>Rework is the vendor's biggest cost and the owner's biggest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7A"/>
                </a:solidFill>
                <a:latin typeface="Calibri"/>
              </a:rPr>
              <a:t>VAANI · AIForge · Hack Sprint 2026, MIT Bengaluru · PS41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7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6E56"/>
                </a:solidFill>
                <a:latin typeface="Calibri"/>
              </a:rPr>
              <a:t>WHAT VAANI DOES, IN THE OWNER'S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1A1F"/>
                </a:solidFill>
                <a:latin typeface="Georgia"/>
              </a:rPr>
              <a:t>Speak. The agent asks what is missing. Approve what the verifier checked.</a:t>
            </a:r>
          </a:p>
        </p:txBody>
      </p:sp>
      <p:pic>
        <p:nvPicPr>
          <p:cNvPr id="4" name="Picture 3" descr="2-speak-hi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3566160" cy="2228850"/>
          </a:xfrm>
          <a:prstGeom prst="rect">
            <a:avLst/>
          </a:prstGeom>
          <a:ln w="9525">
            <a:solidFill>
              <a:srgbClr val="D9D4CB"/>
            </a:solidFill>
          </a:ln>
        </p:spPr>
      </p:pic>
      <p:pic>
        <p:nvPicPr>
          <p:cNvPr id="5" name="Picture 4" descr="3-agent-hin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37360"/>
            <a:ext cx="3566160" cy="2228850"/>
          </a:xfrm>
          <a:prstGeom prst="rect">
            <a:avLst/>
          </a:prstGeom>
          <a:ln w="9525">
            <a:solidFill>
              <a:srgbClr val="D9D4CB"/>
            </a:solidFill>
          </a:ln>
        </p:spPr>
      </p:pic>
      <p:pic>
        <p:nvPicPr>
          <p:cNvPr id="6" name="Picture 5" descr="6-brd-hind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737360"/>
            <a:ext cx="3566160" cy="2228850"/>
          </a:xfrm>
          <a:prstGeom prst="rect">
            <a:avLst/>
          </a:prstGeom>
          <a:ln w="9525">
            <a:solidFill>
              <a:srgbClr val="D9D4C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41148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7A"/>
                </a:solidFill>
                <a:latin typeface="Calibri"/>
              </a:rPr>
              <a:t>Speak</a:t>
            </a:r>
          </a:p>
          <a:p>
            <a:pPr algn="l"/>
            <a:r>
              <a:rPr sz="1200" b="0" i="0">
                <a:solidFill>
                  <a:srgbClr val="6B727A"/>
                </a:solidFill>
                <a:latin typeface="Calibri"/>
              </a:rPr>
              <a:t>Saaras v4 hears code-mixed Hindi and separates the speakers. Every segment is hashed as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41148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7A"/>
                </a:solidFill>
                <a:latin typeface="Calibri"/>
              </a:rPr>
              <a:t>Agent</a:t>
            </a:r>
          </a:p>
          <a:p>
            <a:pPr algn="l"/>
            <a:r>
              <a:rPr sz="1200" b="0" i="0">
                <a:solidFill>
                  <a:srgbClr val="6B727A"/>
                </a:solidFill>
                <a:latin typeface="Calibri"/>
              </a:rPr>
              <a:t>Sarvam 105B checks the 8 things a BRD needs and asks only for what was not said, aloud, in Hindi (Bulbul).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1148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7A"/>
                </a:solidFill>
                <a:latin typeface="Calibri"/>
              </a:rPr>
              <a:t>BRD + app</a:t>
            </a:r>
          </a:p>
          <a:p>
            <a:pPr algn="l"/>
            <a:r>
              <a:rPr sz="1200" b="0" i="0">
                <a:solidFill>
                  <a:srgbClr val="6B727A"/>
                </a:solidFill>
                <a:latin typeface="Calibri"/>
              </a:rPr>
              <a:t>Vendor hand-off table, acceptance criteria, Jira export, a first working app, deadlines, a QR that opens it all on a phone with the voices.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6E56"/>
                </a:solidFill>
                <a:latin typeface="Calibri"/>
              </a:rPr>
              <a:t>The interface itself is in Hindi, Kannada or Tamil, not only the voice. The owner's job is ten minutes of talking and one approval tap.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7A"/>
                </a:solidFill>
                <a:latin typeface="Calibri"/>
              </a:rPr>
              <a:t>VAANI · AIForge · Hack Sprint 2026, MIT Bengaluru · PS41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00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6E56"/>
                </a:solidFill>
                <a:latin typeface="Calibri"/>
              </a:rPr>
              <a:t>WHAT HAS NOT BEEN DONE BEFORE,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71A1F"/>
                </a:solidFill>
                <a:latin typeface="Georgia"/>
              </a:rPr>
              <a:t>The owner said 50 kg. The manager said 100. Caught with both voices, then reconciled.</a:t>
            </a:r>
          </a:p>
        </p:txBody>
      </p:sp>
      <p:pic>
        <p:nvPicPr>
          <p:cNvPr id="4" name="Picture 3" descr="4-review-conflict-hi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5577840" cy="3486150"/>
          </a:xfrm>
          <a:prstGeom prst="rect">
            <a:avLst/>
          </a:prstGeom>
          <a:ln w="9525">
            <a:solidFill>
              <a:srgbClr val="D9D4CB"/>
            </a:solidFill>
          </a:ln>
        </p:spPr>
      </p:pic>
      <p:pic>
        <p:nvPicPr>
          <p:cNvPr id="5" name="Picture 4" descr="8-reconcile-hin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45920"/>
            <a:ext cx="5303520" cy="5130724"/>
          </a:xfrm>
          <a:prstGeom prst="rect">
            <a:avLst/>
          </a:prstGeom>
          <a:ln w="9525">
            <a:solidFill>
              <a:srgbClr val="D9D4C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5257800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71A1F"/>
                </a:solidFill>
                <a:latin typeface="Calibri"/>
              </a:rPr>
              <a:t>Speaker-attributed extraction: who said it, the exact words, the clip. 7 of 7 planted disagreements found, no false alarms.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578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71A1F"/>
                </a:solidFill>
                <a:latin typeface="Calibri"/>
              </a:rPr>
              <a:t>One tap asks the agent to reconcile: "alert at 50 kg, unless festival season, then 100 kg", with the question to ask the owner. The verifier still checks the merged rule against the 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7A"/>
                </a:solidFill>
                <a:latin typeface="Calibri"/>
              </a:rPr>
              <a:t>VAANI · AIForge · Hack Sprint 2026, MIT Bengaluru · PS41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00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7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6E56"/>
                </a:solidFill>
                <a:latin typeface="Calibri"/>
              </a:rPr>
              <a:t>WHAT HAS NOT BEEN DONE BEFORE,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1A1F"/>
                </a:solidFill>
                <a:latin typeface="Georgia"/>
              </a:rPr>
              <a:t>Executable requirements: try the business before building the app.</a:t>
            </a:r>
          </a:p>
        </p:txBody>
      </p:sp>
      <p:pic>
        <p:nvPicPr>
          <p:cNvPr id="4" name="Picture 3" descr="9-scenario-hi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949440" cy="4976949"/>
          </a:xfrm>
          <a:prstGeom prst="rect">
            <a:avLst/>
          </a:prstGeom>
          <a:ln w="9525">
            <a:solidFill>
              <a:srgbClr val="D9D4C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>The owner describes a situation in his own words: "today stock is 70 kg, festival season, a 25,000 order came in."</a:t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>VAANI shows which requirements fire and why. The owner's 50 kg rule stays silent; the manager's 100 kg rule fires; the approval rule fires.</a:t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>The disagreement has a visible consequence before a line of code exists. Requirements stop being prose and become something the owner can 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7A"/>
                </a:solidFill>
                <a:latin typeface="Calibri"/>
              </a:rPr>
              <a:t>VAANI · AIForge · Hack Sprint 2026, MIT Bengaluru · PS41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6E56"/>
                </a:solidFill>
                <a:latin typeface="Calibri"/>
              </a:rPr>
              <a:t>WHAT HAS NOT BEEN DONE BEFORE,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71A1F"/>
                </a:solidFill>
                <a:latin typeface="Georgia"/>
              </a:rPr>
              <a:t>The AI drafts. A deterministic verifier decides. A number nobody said cannot enter.</a:t>
            </a:r>
          </a:p>
        </p:txBody>
      </p:sp>
      <p:pic>
        <p:nvPicPr>
          <p:cNvPr id="4" name="Picture 3" descr="5-planted-lie-hi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949440" cy="4343400"/>
          </a:xfrm>
          <a:prstGeom prst="rect">
            <a:avLst/>
          </a:prstGeom>
          <a:ln w="9525">
            <a:solidFill>
              <a:srgbClr val="D9D4C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>Every requirement must quote the transcript verbatim, and every number in it must appear in that quote. Indic digits and Indian grouping are normalised.</a:t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>We planted 66 errors into three meetings: numbers nobody said, altered quotes, numbers borrowed from the other speaker. Caught 66 of 66. False blocks: 0.</a:t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>On stage: one button plants a 48-hour deadline nobody spoke. It turns red at once. No AI involved.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7A"/>
                </a:solidFill>
                <a:latin typeface="Calibri"/>
              </a:rPr>
              <a:t>VAANI · AIForge · Hack Sprint 2026, MIT Bengaluru · PS41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6E56"/>
                </a:solidFill>
                <a:latin typeface="Calibri"/>
              </a:rPr>
              <a:t>FROM WORDS TO THE CALENDAR AND THE DRIVE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71A1F"/>
                </a:solidFill>
                <a:latin typeface="Georgia"/>
              </a:rPr>
              <a:t>Deadlines heard in the conversation land in Google Calendar; the BRD lands in Drive.</a:t>
            </a:r>
          </a:p>
        </p:txBody>
      </p:sp>
      <p:pic>
        <p:nvPicPr>
          <p:cNvPr id="4" name="Picture 3" descr="10-deadlines-hi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949440" cy="2529840"/>
          </a:xfrm>
          <a:prstGeom prst="rect">
            <a:avLst/>
          </a:prstGeom>
          <a:ln w="9525">
            <a:solidFill>
              <a:srgbClr val="D9D4C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>"Diwali se pehle, 2 mahine ke andar" becomes 8 November 2026, with its quote. "Har shaam" becomes a daily entry.</a:t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>One click adds each to Google Calendar; the set downloads as .ics. With the owner's Google account connected, the BRD is created as a Google Doc in Drive and the deadlines as Calendar events.</a:t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171A1F"/>
                </a:solidFill>
                <a:latin typeface="Calibri"/>
              </a:rPr>
              <a:t>The email given at the start receives the pack (PDF, Word, Excel) the moment the BRD is approved.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7A"/>
                </a:solidFill>
                <a:latin typeface="Calibri"/>
              </a:rPr>
              <a:t>VAANI · AIForge · Hack Sprint 2026, MIT Bengaluru · PS41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6E56"/>
                </a:solidFill>
                <a:latin typeface="Calibri"/>
              </a:rPr>
              <a:t>MEASURED, NOT CLAIMED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71A1F"/>
                </a:solidFill>
                <a:latin typeface="Georgia"/>
              </a:rPr>
              <a:t>From a real test with a real owner's request, then fixed and re-measured.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69494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 wait for</a:t>
                      </a:r>
                    </a:p>
                  </a:txBody>
                  <a:tcPr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0F6E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Agent's first question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4.0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2.8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Next question after an answer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4.0 s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0.1 s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Extraction + conflicts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8.5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1.7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BRD + app after the last approval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19.3 s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4.8 s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Second request in the same tab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content leaked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no leak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863840" y="1737360"/>
          <a:ext cx="3840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0F6E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Planted errors caught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66 / 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False blocks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Conflicts found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False alarms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1A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3891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27A"/>
                </a:solidFill>
                <a:latin typeface="Calibri"/>
              </a:rPr>
              <a:t>94 backend tests and 13 end-to-end browser flows run on every change. Drafts, voices and translations are cached on disk, so a rehearsed demo is instant and survives a dead Wi-Fi. A full session costs under ₹5 in Sarvam credits.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7A"/>
                </a:solidFill>
                <a:latin typeface="Calibri"/>
              </a:rPr>
              <a:t>VAANI · AIForge · Hack Sprint 2026, MIT Bengaluru · PS41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00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6E56"/>
                </a:solidFill>
                <a:latin typeface="Calibri"/>
              </a:rPr>
              <a:t>BUILT ON SARVAM,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71A1F"/>
                </a:solidFill>
                <a:latin typeface="Georgia"/>
              </a:rPr>
              <a:t>Six Sarvam APIs, each doing one job the pitch depends 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59436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does in VAANI</a:t>
                      </a:r>
                    </a:p>
                  </a:txBody>
                  <a:tcPr>
                    <a:solidFill>
                      <a:srgbClr val="0F6E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Speech to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saaras:v4, codemix, keyterms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Hears Hindi-English mixing; the session's product names bias recognition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Speaker diarization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batch job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Separates owner and manager in one recording, with timestamps for the clips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Interview 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sarvam-105b-conversations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Coverage check, conflict detection, scenario check, with strict JSON schemas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Text to speech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bulbul:v4-flash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Asks questions and reads rules back, one persona per language; two demo voices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Translate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sarvam-translate:v1 / mayura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Questions, the BRD and the whole interface in the owner's 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Document AI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digitise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F"/>
                          </a:solidFill>
                          <a:latin typeface="Calibri"/>
                        </a:rPr>
                        <a:t>A photo of handwritten notes becomes transcript lines</a:t>
                      </a:r>
                    </a:p>
                  </a:txBody>
                  <a:tcPr>
                    <a:solidFill>
                      <a:srgbClr val="F1EEE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7A"/>
                </a:solidFill>
                <a:latin typeface="Calibri"/>
              </a:rPr>
              <a:t>VAANI · AIForge · Hack Sprint 2026, MIT Bengaluru · PS41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6E56"/>
                </a:solidFill>
                <a:latin typeface="Calibri"/>
              </a:rPr>
              <a:t>WHO PAYS, AND WHAT IS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1A1F"/>
                </a:solidFill>
                <a:latin typeface="Georgia"/>
              </a:rPr>
              <a:t>The vendor pays. The owner speaks.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71A1F"/>
                </a:solidFill>
                <a:latin typeface="Calibri"/>
              </a:rPr>
              <a:t>Customer: freelancers and small IT firms building for MSMEs. ₹499 per BRD, or ₹2,999 a month for an agency.</a:t>
            </a:r>
          </a:p>
          <a:p>
            <a:pPr algn="l"/>
            <a:r>
              <a:rPr sz="1600" b="0" i="0">
                <a:solidFill>
                  <a:srgbClr val="171A1F"/>
                </a:solidFill>
                <a:latin typeface="Calibri"/>
              </a:rPr>
              <a:t>They lose the most to rework, and a client cannot dispute a requirement he can hear in his own voice.</a:t>
            </a:r>
          </a:p>
          <a:p>
            <a:pPr algn="l"/>
            <a:r>
              <a:rPr sz="1600" b="0" i="0">
                <a:solidFill>
                  <a:srgbClr val="171A1F"/>
                </a:solidFill>
                <a:latin typeface="Calibri"/>
              </a:rPr>
              <a:t/>
            </a:r>
          </a:p>
          <a:p>
            <a:pPr algn="l"/>
            <a:r>
              <a:rPr sz="1600" b="0" i="0">
                <a:solidFill>
                  <a:srgbClr val="171A1F"/>
                </a:solidFill>
                <a:latin typeface="Calibri"/>
              </a:rPr>
              <a:t>Why Sarvam: code-mixed Hindi, Kannada and Tamil speech, pronunciation and diarization are where English-first models fail, and the quote has to be trusted.</a:t>
            </a:r>
          </a:p>
          <a:p>
            <a:pPr algn="l"/>
            <a:r>
              <a:rPr sz="1600" b="0" i="0">
                <a:solidFill>
                  <a:srgbClr val="171A1F"/>
                </a:solidFill>
                <a:latin typeface="Calibri"/>
              </a:rPr>
              <a:t/>
            </a:r>
          </a:p>
          <a:p>
            <a:pPr algn="l"/>
            <a:r>
              <a:rPr sz="1600" b="0" i="0">
                <a:solidFill>
                  <a:srgbClr val="171A1F"/>
                </a:solidFill>
                <a:latin typeface="Calibri"/>
              </a:rPr>
              <a:t>Next: pilot with three Bengaluru agencies that serve K.R. Market traders; WhatsApp voice notes as input; vendor change requests that must quote the owner too.</a:t>
            </a:r>
          </a:p>
        </p:txBody>
      </p:sp>
      <p:pic>
        <p:nvPicPr>
          <p:cNvPr id="5" name="Picture 4" descr="7-shar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28800"/>
            <a:ext cx="4846320" cy="6173841"/>
          </a:xfrm>
          <a:prstGeom prst="rect">
            <a:avLst/>
          </a:prstGeom>
          <a:ln w="9525">
            <a:solidFill>
              <a:srgbClr val="D9D4C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766560" y="54864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6E56"/>
                </a:solidFill>
                <a:latin typeface="Calibri"/>
              </a:rPr>
              <a:t>Scan: the BRD, the app and the voices open on your phone.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7A"/>
                </a:solidFill>
                <a:latin typeface="Calibri"/>
              </a:rPr>
              <a:t>VAANI · AIForge · Hack Sprint 2026, MIT Bengaluru · PS41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00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7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